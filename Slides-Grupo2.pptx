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Luciole Bold Italics" charset="1" panose="020B0800020200000003"/>
      <p:regular r:id="rId38"/>
    </p:embeddedFont>
    <p:embeddedFont>
      <p:font typeface="Open Sans Bold Italics" charset="1" panose="020B0806030504020204"/>
      <p:regular r:id="rId39"/>
    </p:embeddedFont>
    <p:embeddedFont>
      <p:font typeface="Open Sans" charset="1" panose="020B0606030504020204"/>
      <p:regular r:id="rId40"/>
    </p:embeddedFont>
    <p:embeddedFont>
      <p:font typeface="Luciole Bold" charset="1" panose="020B0800020200000003"/>
      <p:regular r:id="rId41"/>
    </p:embeddedFont>
    <p:embeddedFont>
      <p:font typeface="Open Sans Bold" charset="1" panose="020B0806030504020204"/>
      <p:regular r:id="rId42"/>
    </p:embeddedFont>
    <p:embeddedFont>
      <p:font typeface="Arimo" charset="1" panose="020B060402020202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https://excalidraw.com/#json=swxzN85uRVIkYrd9rXpIL,uCoLcCtW2FnqeDsrjWKJcQ" TargetMode="External" Type="http://schemas.openxmlformats.org/officeDocument/2006/relationships/hyperlink"/><Relationship Id="rId12" Target="https://excalidraw.com/#json=Gs_UE2GVaOlN9afsgpKDc,5LNaOp0Wewn1r9N2c207WQ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8.png" Type="http://schemas.openxmlformats.org/officeDocument/2006/relationships/image"/><Relationship Id="rId12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6.png" Type="http://schemas.openxmlformats.org/officeDocument/2006/relationships/image"/><Relationship Id="rId12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7.pn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23.png" Type="http://schemas.openxmlformats.org/officeDocument/2006/relationships/image"/><Relationship Id="rId12" Target="../media/image22.png" Type="http://schemas.openxmlformats.org/officeDocument/2006/relationships/image"/><Relationship Id="rId13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5996" y="2555822"/>
            <a:ext cx="10163266" cy="5878911"/>
          </a:xfrm>
          <a:custGeom>
            <a:avLst/>
            <a:gdLst/>
            <a:ahLst/>
            <a:cxnLst/>
            <a:rect r="r" b="b" t="t" l="l"/>
            <a:pathLst>
              <a:path h="5878911" w="10163266">
                <a:moveTo>
                  <a:pt x="0" y="0"/>
                </a:moveTo>
                <a:lnTo>
                  <a:pt x="10163266" y="0"/>
                </a:lnTo>
                <a:lnTo>
                  <a:pt x="10163266" y="5878911"/>
                </a:lnTo>
                <a:lnTo>
                  <a:pt x="0" y="5878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3000"/>
            </a:blip>
            <a:stretch>
              <a:fillRect l="-4594" t="-29390" r="-6432" b="-1906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5996" y="2593308"/>
            <a:ext cx="10300304" cy="375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3"/>
              </a:lnSpc>
            </a:pPr>
            <a:r>
              <a:rPr lang="en-US" b="true" sz="7934" i="true" spc="-285">
                <a:solidFill>
                  <a:srgbClr val="17320B"/>
                </a:solidFill>
                <a:latin typeface="Luciole Bold Italics"/>
                <a:ea typeface="Luciole Bold Italics"/>
                <a:cs typeface="Luciole Bold Italics"/>
                <a:sym typeface="Luciole Bold Italics"/>
              </a:rPr>
              <a:t>Sistema de verificação de elegibilidade - “bolsa familia”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20410" y="6409985"/>
            <a:ext cx="24471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Grupo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950" y="4587295"/>
            <a:ext cx="4018046" cy="42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Brian Antony Rodrigues Monteiro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Dendera Karoline Rodrigues do Carmo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Eduarda Kristiny Nascimento Calazans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Gabriela Natalie da Silva Souza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Gustavo Henrique Jesus Maia 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Isabelly Vitória Rodrigues Pacheco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Josué de Melo Torres 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Julia Carolina Ferreira Rocha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Klaiver Richard Fernandes Vieira</a:t>
            </a:r>
          </a:p>
          <a:p>
            <a:pPr algn="l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Maria Eduarda Fernandes Silva</a:t>
            </a:r>
          </a:p>
          <a:p>
            <a:pPr algn="just">
              <a:lnSpc>
                <a:spcPts val="2462"/>
              </a:lnSpc>
            </a:pPr>
            <a:r>
              <a:rPr lang="en-US" sz="17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Yhandra Branco de Tassis </a:t>
            </a:r>
          </a:p>
          <a:p>
            <a:pPr algn="l">
              <a:lnSpc>
                <a:spcPts val="2462"/>
              </a:lnSpc>
            </a:pPr>
          </a:p>
          <a:p>
            <a:pPr algn="l">
              <a:lnSpc>
                <a:spcPts val="2462"/>
              </a:lnSpc>
            </a:pPr>
          </a:p>
          <a:p>
            <a:pPr algn="l">
              <a:lnSpc>
                <a:spcPts val="246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17095" y="2334547"/>
            <a:ext cx="9392686" cy="7264656"/>
          </a:xfrm>
          <a:custGeom>
            <a:avLst/>
            <a:gdLst/>
            <a:ahLst/>
            <a:cxnLst/>
            <a:rect r="r" b="b" t="t" l="l"/>
            <a:pathLst>
              <a:path h="7264656" w="9392686">
                <a:moveTo>
                  <a:pt x="0" y="0"/>
                </a:moveTo>
                <a:lnTo>
                  <a:pt x="9392686" y="0"/>
                </a:lnTo>
                <a:lnTo>
                  <a:pt x="9392686" y="7264656"/>
                </a:lnTo>
                <a:lnTo>
                  <a:pt x="0" y="72646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76025" y="1119317"/>
            <a:ext cx="3620813" cy="2391103"/>
          </a:xfrm>
          <a:custGeom>
            <a:avLst/>
            <a:gdLst/>
            <a:ahLst/>
            <a:cxnLst/>
            <a:rect r="r" b="b" t="t" l="l"/>
            <a:pathLst>
              <a:path h="2391103" w="3620813">
                <a:moveTo>
                  <a:pt x="0" y="0"/>
                </a:moveTo>
                <a:lnTo>
                  <a:pt x="3620813" y="0"/>
                </a:lnTo>
                <a:lnTo>
                  <a:pt x="3620813" y="2391103"/>
                </a:lnTo>
                <a:lnTo>
                  <a:pt x="0" y="23911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987" t="-38258" r="-41149" b="-38546"/>
            </a:stretch>
          </a:blipFill>
        </p:spPr>
      </p:sp>
      <p:sp>
        <p:nvSpPr>
          <p:cNvPr name="TextBox 12" id="12" descr="Sistema"/>
          <p:cNvSpPr txBox="true"/>
          <p:nvPr/>
        </p:nvSpPr>
        <p:spPr>
          <a:xfrm rot="0">
            <a:off x="5508828" y="1119699"/>
            <a:ext cx="7270345" cy="314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8"/>
              </a:lnSpc>
            </a:pPr>
            <a:r>
              <a:rPr lang="en-US" b="true" sz="7788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QUE É O BOLSA FAMÍLIA?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5153025"/>
            <a:ext cx="17860491" cy="20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b="true" sz="3177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O BOLSA FAMÍLIA É UM PROGRAMA DO GOVERNO CRIADO PARA AJUDAR FAMÍLIAS DE BAIXA RENDA A TEREM UMA AJUDA FINANCEIRA PARA GARANTIR MELHORES CONDIÇÕES DE VIDA.</a:t>
            </a:r>
          </a:p>
          <a:p>
            <a:pPr algn="ctr">
              <a:lnSpc>
                <a:spcPts val="3177"/>
              </a:lnSpc>
            </a:pPr>
          </a:p>
          <a:p>
            <a:pPr algn="ctr">
              <a:lnSpc>
                <a:spcPts val="31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67957" y="3049002"/>
            <a:ext cx="8379658" cy="6481142"/>
          </a:xfrm>
          <a:custGeom>
            <a:avLst/>
            <a:gdLst/>
            <a:ahLst/>
            <a:cxnLst/>
            <a:rect r="r" b="b" t="t" l="l"/>
            <a:pathLst>
              <a:path h="6481142" w="8379658">
                <a:moveTo>
                  <a:pt x="0" y="0"/>
                </a:moveTo>
                <a:lnTo>
                  <a:pt x="8379658" y="0"/>
                </a:lnTo>
                <a:lnTo>
                  <a:pt x="8379658" y="6481142"/>
                </a:lnTo>
                <a:lnTo>
                  <a:pt x="0" y="6481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67957" y="795148"/>
            <a:ext cx="8505984" cy="378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3"/>
              </a:lnSpc>
            </a:pPr>
            <a:r>
              <a:rPr lang="en-US" b="true" sz="707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HISTÓRICO E IMPORTANCIA DO BOLSA FAMÍLIA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34443" y="5637751"/>
            <a:ext cx="12019114" cy="65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546370" y="4767412"/>
            <a:ext cx="11607187" cy="612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O BOLSA FAMÍLIA É O MAIOR PROGRAMA DE RENDA FINANCEIRA DO BRASIL.</a:t>
            </a:r>
          </a:p>
          <a:p>
            <a:pPr algn="ctr">
              <a:lnSpc>
                <a:spcPts val="3999"/>
              </a:lnSpc>
            </a:pPr>
          </a:p>
          <a:p>
            <a:pPr algn="ctr">
              <a:lnSpc>
                <a:spcPts val="3999"/>
              </a:lnSpc>
            </a:pPr>
            <a:r>
              <a:rPr lang="en-US" b="true" sz="399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CRIADO EM 2003 E REFORMULADO EM 2023, ATUALMENTE O BOLSA FAMÍLIA ATENDE CERCA DE 18,9 MILHÕES DE FAMÍLIAS REDUZINDO POBREZAS EM TODO BRASIL.</a:t>
            </a:r>
          </a:p>
          <a:p>
            <a:pPr algn="ctr">
              <a:lnSpc>
                <a:spcPts val="3999"/>
              </a:lnSpc>
            </a:pPr>
          </a:p>
          <a:p>
            <a:pPr algn="ctr">
              <a:lnSpc>
                <a:spcPts val="3999"/>
              </a:lnSpc>
            </a:pPr>
          </a:p>
          <a:p>
            <a:pPr algn="ctr">
              <a:lnSpc>
                <a:spcPts val="3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43826" y="2273960"/>
            <a:ext cx="9030258" cy="6984340"/>
          </a:xfrm>
          <a:custGeom>
            <a:avLst/>
            <a:gdLst/>
            <a:ahLst/>
            <a:cxnLst/>
            <a:rect r="r" b="b" t="t" l="l"/>
            <a:pathLst>
              <a:path h="6984340" w="9030258">
                <a:moveTo>
                  <a:pt x="0" y="0"/>
                </a:moveTo>
                <a:lnTo>
                  <a:pt x="9030258" y="0"/>
                </a:lnTo>
                <a:lnTo>
                  <a:pt x="9030258" y="6984340"/>
                </a:lnTo>
                <a:lnTo>
                  <a:pt x="0" y="6984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21581" y="7239216"/>
            <a:ext cx="4571676" cy="3047784"/>
          </a:xfrm>
          <a:custGeom>
            <a:avLst/>
            <a:gdLst/>
            <a:ahLst/>
            <a:cxnLst/>
            <a:rect r="r" b="b" t="t" l="l"/>
            <a:pathLst>
              <a:path h="3047784" w="4571676">
                <a:moveTo>
                  <a:pt x="0" y="0"/>
                </a:moveTo>
                <a:lnTo>
                  <a:pt x="4571676" y="0"/>
                </a:lnTo>
                <a:lnTo>
                  <a:pt x="4571676" y="3047784"/>
                </a:lnTo>
                <a:lnTo>
                  <a:pt x="0" y="30477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61663" y="1413901"/>
            <a:ext cx="10994585" cy="255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</a:pPr>
            <a:r>
              <a:rPr lang="en-US" b="true" sz="914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CRITÉRIOS DE ELEGIBILIDADE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39238" y="4622731"/>
            <a:ext cx="9525" cy="104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38508" y="4251701"/>
            <a:ext cx="17201459" cy="282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b="true" sz="3605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OS PRINCIPAIS CRITÉRIOS PARA SE ELEGER AO BOLSA FAMÍLIA:</a:t>
            </a:r>
          </a:p>
          <a:p>
            <a:pPr algn="just">
              <a:lnSpc>
                <a:spcPts val="3605"/>
              </a:lnSpc>
            </a:pPr>
          </a:p>
          <a:p>
            <a:pPr algn="just" marL="778451" indent="-389225" lvl="1">
              <a:lnSpc>
                <a:spcPts val="3605"/>
              </a:lnSpc>
              <a:buFont typeface="Arial"/>
              <a:buChar char="•"/>
            </a:pPr>
            <a:r>
              <a:rPr lang="en-US" b="true" sz="3605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A FAMÍLIA PRECISA TER RENDA PER CAPITA DE ATÉ R$ 218,00.</a:t>
            </a:r>
          </a:p>
          <a:p>
            <a:pPr algn="just">
              <a:lnSpc>
                <a:spcPts val="3605"/>
              </a:lnSpc>
            </a:pPr>
          </a:p>
          <a:p>
            <a:pPr algn="just" marL="778451" indent="-389225" lvl="1">
              <a:lnSpc>
                <a:spcPts val="3605"/>
              </a:lnSpc>
              <a:buFont typeface="Arial"/>
              <a:buChar char="•"/>
            </a:pPr>
            <a:r>
              <a:rPr lang="en-US" b="true" sz="3605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RENDA PER CAPITA É O VALOR DA RENDA TOTAL DIVIDIDA PELO NÚMERO DE PESSOAS DA FAMÍLIA.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08885" y="2893321"/>
            <a:ext cx="8670231" cy="6705881"/>
          </a:xfrm>
          <a:custGeom>
            <a:avLst/>
            <a:gdLst/>
            <a:ahLst/>
            <a:cxnLst/>
            <a:rect r="r" b="b" t="t" l="l"/>
            <a:pathLst>
              <a:path h="6705881" w="8670231">
                <a:moveTo>
                  <a:pt x="0" y="0"/>
                </a:moveTo>
                <a:lnTo>
                  <a:pt x="8670230" y="0"/>
                </a:lnTo>
                <a:lnTo>
                  <a:pt x="8670230" y="6705882"/>
                </a:lnTo>
                <a:lnTo>
                  <a:pt x="0" y="67058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3079" y="1413901"/>
            <a:ext cx="10994585" cy="255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</a:pPr>
            <a:r>
              <a:rPr lang="en-US" b="true" sz="914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VALOR DO BENEFÍCIO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4341401"/>
            <a:ext cx="18560884" cy="38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9"/>
              </a:lnSpc>
            </a:pPr>
            <a:r>
              <a:rPr lang="en-US" b="true" sz="368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O VALOR DO BENEFÍCIO É DE R$ 600.</a:t>
            </a:r>
          </a:p>
          <a:p>
            <a:pPr algn="ctr">
              <a:lnSpc>
                <a:spcPts val="3689"/>
              </a:lnSpc>
            </a:pPr>
          </a:p>
          <a:p>
            <a:pPr algn="l">
              <a:lnSpc>
                <a:spcPts val="3689"/>
              </a:lnSpc>
            </a:pPr>
            <a:r>
              <a:rPr lang="en-US" b="true" sz="368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    BENEFÍCIOS ADICIONAIS:</a:t>
            </a:r>
          </a:p>
          <a:p>
            <a:pPr algn="l">
              <a:lnSpc>
                <a:spcPts val="3689"/>
              </a:lnSpc>
            </a:pPr>
          </a:p>
          <a:p>
            <a:pPr algn="l" marL="796483" indent="-398241" lvl="1">
              <a:lnSpc>
                <a:spcPts val="3689"/>
              </a:lnSpc>
              <a:buFont typeface="Arial"/>
              <a:buChar char="•"/>
            </a:pPr>
            <a:r>
              <a:rPr lang="en-US" b="true" sz="368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R$ 150 CRIANÇAS DE ATÉ 6 ANOS</a:t>
            </a:r>
          </a:p>
          <a:p>
            <a:pPr algn="l">
              <a:lnSpc>
                <a:spcPts val="3689"/>
              </a:lnSpc>
            </a:pPr>
            <a:r>
              <a:rPr lang="en-US" b="true" sz="368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 </a:t>
            </a:r>
          </a:p>
          <a:p>
            <a:pPr algn="l" marL="796483" indent="-398241" lvl="1">
              <a:lnSpc>
                <a:spcPts val="3689"/>
              </a:lnSpc>
              <a:buFont typeface="Arial"/>
              <a:buChar char="•"/>
            </a:pPr>
            <a:r>
              <a:rPr lang="en-US" b="true" sz="3689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R$ R$ 50 GESTANTES, CRIANÇAS E ADOLESCENTES DE 7 À 18 ANOS.</a:t>
            </a:r>
          </a:p>
          <a:p>
            <a:pPr algn="l">
              <a:lnSpc>
                <a:spcPts val="368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02937" y="2574029"/>
            <a:ext cx="8156061" cy="6308204"/>
          </a:xfrm>
          <a:custGeom>
            <a:avLst/>
            <a:gdLst/>
            <a:ahLst/>
            <a:cxnLst/>
            <a:rect r="r" b="b" t="t" l="l"/>
            <a:pathLst>
              <a:path h="6308204" w="8156061">
                <a:moveTo>
                  <a:pt x="0" y="0"/>
                </a:moveTo>
                <a:lnTo>
                  <a:pt x="8156062" y="0"/>
                </a:lnTo>
                <a:lnTo>
                  <a:pt x="8156062" y="6308204"/>
                </a:lnTo>
                <a:lnTo>
                  <a:pt x="0" y="63082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250201">
            <a:off x="12555849" y="1308121"/>
            <a:ext cx="4170887" cy="2862675"/>
          </a:xfrm>
          <a:custGeom>
            <a:avLst/>
            <a:gdLst/>
            <a:ahLst/>
            <a:cxnLst/>
            <a:rect r="r" b="b" t="t" l="l"/>
            <a:pathLst>
              <a:path h="2862675" w="4170887">
                <a:moveTo>
                  <a:pt x="0" y="0"/>
                </a:moveTo>
                <a:lnTo>
                  <a:pt x="4170887" y="0"/>
                </a:lnTo>
                <a:lnTo>
                  <a:pt x="4170887" y="2862675"/>
                </a:lnTo>
                <a:lnTo>
                  <a:pt x="0" y="28626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46708" y="1732255"/>
            <a:ext cx="10994585" cy="255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</a:pPr>
            <a:r>
              <a:rPr lang="en-US" b="true" sz="914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QUE É CADUNICO?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9655" y="4818988"/>
            <a:ext cx="16876364" cy="295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7"/>
              </a:lnSpc>
            </a:pPr>
            <a:r>
              <a:rPr lang="en-US" b="true" sz="4507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CADASTRO ÚNICO PARA PROGRAMAS SOCIAIS DO GOVERNO FEDERAL.</a:t>
            </a:r>
          </a:p>
          <a:p>
            <a:pPr algn="ctr">
              <a:lnSpc>
                <a:spcPts val="4507"/>
              </a:lnSpc>
            </a:pP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b="true" sz="4507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O CADUNICO REÚNE INFORMAÇÕES SOBRE FAMÍLIAS DE BAIXA RENDA.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80412" y="2488915"/>
            <a:ext cx="8127176" cy="6285863"/>
          </a:xfrm>
          <a:custGeom>
            <a:avLst/>
            <a:gdLst/>
            <a:ahLst/>
            <a:cxnLst/>
            <a:rect r="r" b="b" t="t" l="l"/>
            <a:pathLst>
              <a:path h="6285863" w="8127176">
                <a:moveTo>
                  <a:pt x="0" y="0"/>
                </a:moveTo>
                <a:lnTo>
                  <a:pt x="8127176" y="0"/>
                </a:lnTo>
                <a:lnTo>
                  <a:pt x="8127176" y="6285863"/>
                </a:lnTo>
                <a:lnTo>
                  <a:pt x="0" y="6285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85072" y="1028700"/>
            <a:ext cx="10515219" cy="355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4"/>
              </a:lnSpc>
            </a:pPr>
            <a:r>
              <a:rPr lang="en-US" b="true" sz="8744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POR QUE O CADUNICO É OBRIGATÓRIO?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01062" y="4962325"/>
            <a:ext cx="16086938" cy="334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7642" indent="-398821" lvl="1">
              <a:lnSpc>
                <a:spcPts val="3694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SEM CADASTRO, A FAMÍLIA NÃO PODE RECEBER O BENFÍCIO</a:t>
            </a:r>
          </a:p>
          <a:p>
            <a:pPr algn="l">
              <a:lnSpc>
                <a:spcPts val="3694"/>
              </a:lnSpc>
            </a:pPr>
          </a:p>
          <a:p>
            <a:pPr algn="l" marL="797642" indent="-398821" lvl="1">
              <a:lnSpc>
                <a:spcPts val="3694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É A BASE DE DADOS QUE O GOVERNO USA PARA VERIFICAR ELEGIBILIDADE</a:t>
            </a:r>
          </a:p>
          <a:p>
            <a:pPr algn="l">
              <a:lnSpc>
                <a:spcPts val="3694"/>
              </a:lnSpc>
            </a:pPr>
          </a:p>
          <a:p>
            <a:pPr algn="l" marL="797642" indent="-398821" lvl="1">
              <a:lnSpc>
                <a:spcPts val="3694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DEVE SER ATUALIZADO A CADA 2 ANOS.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13545" y="1444968"/>
            <a:ext cx="4686507" cy="2838084"/>
          </a:xfrm>
          <a:custGeom>
            <a:avLst/>
            <a:gdLst/>
            <a:ahLst/>
            <a:cxnLst/>
            <a:rect r="r" b="b" t="t" l="l"/>
            <a:pathLst>
              <a:path h="2838084" w="4686507">
                <a:moveTo>
                  <a:pt x="0" y="0"/>
                </a:moveTo>
                <a:lnTo>
                  <a:pt x="4686508" y="0"/>
                </a:lnTo>
                <a:lnTo>
                  <a:pt x="4686508" y="2838084"/>
                </a:lnTo>
                <a:lnTo>
                  <a:pt x="0" y="28380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751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99087" y="2691192"/>
            <a:ext cx="8379658" cy="6481142"/>
          </a:xfrm>
          <a:custGeom>
            <a:avLst/>
            <a:gdLst/>
            <a:ahLst/>
            <a:cxnLst/>
            <a:rect r="r" b="b" t="t" l="l"/>
            <a:pathLst>
              <a:path h="6481142" w="8379658">
                <a:moveTo>
                  <a:pt x="0" y="0"/>
                </a:moveTo>
                <a:lnTo>
                  <a:pt x="8379658" y="0"/>
                </a:lnTo>
                <a:lnTo>
                  <a:pt x="8379658" y="6481141"/>
                </a:lnTo>
                <a:lnTo>
                  <a:pt x="0" y="64811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60581" y="1732255"/>
            <a:ext cx="10193916" cy="236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7"/>
              </a:lnSpc>
            </a:pPr>
            <a:r>
              <a:rPr lang="en-US" b="true" sz="8477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COMO FAZER O CADUNICO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1579" y="4461777"/>
            <a:ext cx="16416421" cy="384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467" indent="-457233" lvl="1">
              <a:lnSpc>
                <a:spcPts val="4235"/>
              </a:lnSpc>
              <a:buFont typeface="Arial"/>
              <a:buChar char="•"/>
            </a:pPr>
            <a:r>
              <a:rPr lang="en-US" b="true" sz="4235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PROCURAR O CRAS (CENTRO DE REFEÊNCIA DE ASSISTENCIA SOCIAL)</a:t>
            </a:r>
          </a:p>
          <a:p>
            <a:pPr algn="l">
              <a:lnSpc>
                <a:spcPts val="4235"/>
              </a:lnSpc>
            </a:pPr>
          </a:p>
          <a:p>
            <a:pPr algn="l" marL="914467" indent="-457233" lvl="1">
              <a:lnSpc>
                <a:spcPts val="4235"/>
              </a:lnSpc>
              <a:buFont typeface="Arial"/>
              <a:buChar char="•"/>
            </a:pPr>
            <a:r>
              <a:rPr lang="en-US" b="true" sz="4235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 DOCUMENTOS NECESSÁRIOS: CPF E CERTIDÃO DE NASCIMENTO DE TODOS DA FAMÍLIA</a:t>
            </a:r>
          </a:p>
          <a:p>
            <a:pPr algn="l">
              <a:lnSpc>
                <a:spcPts val="4235"/>
              </a:lnSpc>
            </a:pPr>
          </a:p>
          <a:p>
            <a:pPr algn="l" marL="914467" indent="-457233" lvl="1">
              <a:lnSpc>
                <a:spcPts val="4235"/>
              </a:lnSpc>
              <a:buFont typeface="Arial"/>
              <a:buChar char="•"/>
            </a:pPr>
            <a:r>
              <a:rPr lang="en-US" b="true" sz="4235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DEVE SER ATUALIZADO CADA 2 ANOS.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00193" y="1028700"/>
            <a:ext cx="10443931" cy="352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SISTEMA QUE VAMOS APRESENTAR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46937" y="4888759"/>
            <a:ext cx="14750445" cy="402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3065" indent="-476532" lvl="1">
              <a:lnSpc>
                <a:spcPts val="4414"/>
              </a:lnSpc>
              <a:buFont typeface="Arial"/>
              <a:buChar char="•"/>
            </a:pPr>
            <a:r>
              <a:rPr lang="en-US" b="true" sz="4414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ETAPA 1: COLETA RENDA E CADUNICO - VERFICAR ELEGIBILIDADE</a:t>
            </a:r>
          </a:p>
          <a:p>
            <a:pPr algn="l">
              <a:lnSpc>
                <a:spcPts val="4414"/>
              </a:lnSpc>
            </a:pPr>
          </a:p>
          <a:p>
            <a:pPr algn="l" marL="953065" indent="-476532" lvl="1">
              <a:lnSpc>
                <a:spcPts val="4414"/>
              </a:lnSpc>
              <a:buFont typeface="Arial"/>
              <a:buChar char="•"/>
            </a:pPr>
            <a:r>
              <a:rPr lang="en-US" b="true" sz="4414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ETAPA 2: COLETA COMPOSIÇÃO FAMÍLIAR</a:t>
            </a:r>
          </a:p>
          <a:p>
            <a:pPr algn="l">
              <a:lnSpc>
                <a:spcPts val="4414"/>
              </a:lnSpc>
            </a:pPr>
          </a:p>
          <a:p>
            <a:pPr algn="l" marL="953065" indent="-476532" lvl="1">
              <a:lnSpc>
                <a:spcPts val="4414"/>
              </a:lnSpc>
              <a:buFont typeface="Arial"/>
              <a:buChar char="•"/>
            </a:pPr>
            <a:r>
              <a:rPr lang="en-US" b="true" sz="4414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EXIBIR RESULTADO (ELEGIVEL OU INELEGIVEL)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43382" y="2691192"/>
            <a:ext cx="8127176" cy="6285863"/>
          </a:xfrm>
          <a:custGeom>
            <a:avLst/>
            <a:gdLst/>
            <a:ahLst/>
            <a:cxnLst/>
            <a:rect r="r" b="b" t="t" l="l"/>
            <a:pathLst>
              <a:path h="6285863" w="8127176">
                <a:moveTo>
                  <a:pt x="0" y="0"/>
                </a:moveTo>
                <a:lnTo>
                  <a:pt x="8127177" y="0"/>
                </a:lnTo>
                <a:lnTo>
                  <a:pt x="8127177" y="6285863"/>
                </a:lnTo>
                <a:lnTo>
                  <a:pt x="0" y="6285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58508" y="157330"/>
            <a:ext cx="2575277" cy="2575277"/>
          </a:xfrm>
          <a:custGeom>
            <a:avLst/>
            <a:gdLst/>
            <a:ahLst/>
            <a:cxnLst/>
            <a:rect r="r" b="b" t="t" l="l"/>
            <a:pathLst>
              <a:path h="2575277" w="2575277">
                <a:moveTo>
                  <a:pt x="0" y="0"/>
                </a:moveTo>
                <a:lnTo>
                  <a:pt x="2575277" y="0"/>
                </a:lnTo>
                <a:lnTo>
                  <a:pt x="2575277" y="2575277"/>
                </a:lnTo>
                <a:lnTo>
                  <a:pt x="0" y="25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88428" y="648159"/>
            <a:ext cx="10911145" cy="342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5"/>
              </a:lnSpc>
            </a:pPr>
            <a:r>
              <a:rPr lang="en-US" b="true" sz="840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QUE É A LÓGICA DE PROGRAMAÇÃO?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9655" y="5153025"/>
            <a:ext cx="17928345" cy="335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576" indent="-399288" lvl="1">
              <a:lnSpc>
                <a:spcPts val="3698"/>
              </a:lnSpc>
              <a:buFont typeface="Arial"/>
              <a:buChar char="•"/>
            </a:pPr>
            <a:r>
              <a:rPr lang="en-US" b="true" sz="3698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SEQUÊNCIA DE INTRODUÇÕES PARA RESOLVER UM PROBLEMA</a:t>
            </a:r>
          </a:p>
          <a:p>
            <a:pPr algn="l">
              <a:lnSpc>
                <a:spcPts val="3698"/>
              </a:lnSpc>
            </a:pPr>
          </a:p>
          <a:p>
            <a:pPr algn="l">
              <a:lnSpc>
                <a:spcPts val="3698"/>
              </a:lnSpc>
            </a:pPr>
          </a:p>
          <a:p>
            <a:pPr algn="l">
              <a:lnSpc>
                <a:spcPts val="3698"/>
              </a:lnSpc>
            </a:pPr>
          </a:p>
          <a:p>
            <a:pPr algn="l" marL="798576" indent="-399288" lvl="1">
              <a:lnSpc>
                <a:spcPts val="3698"/>
              </a:lnSpc>
              <a:buFont typeface="Arial"/>
              <a:buChar char="•"/>
            </a:pPr>
            <a:r>
              <a:rPr lang="en-US" b="true" sz="3698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TODO PROGRAMA SEGUE: ENTRADA -PROCESSAMENTO - SAÍDA</a:t>
            </a:r>
          </a:p>
          <a:p>
            <a:pPr algn="l">
              <a:lnSpc>
                <a:spcPts val="3698"/>
              </a:lnSpc>
            </a:pPr>
          </a:p>
          <a:p>
            <a:pPr algn="l">
              <a:lnSpc>
                <a:spcPts val="369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43382" y="2691192"/>
            <a:ext cx="8127176" cy="6285863"/>
          </a:xfrm>
          <a:custGeom>
            <a:avLst/>
            <a:gdLst/>
            <a:ahLst/>
            <a:cxnLst/>
            <a:rect r="r" b="b" t="t" l="l"/>
            <a:pathLst>
              <a:path h="6285863" w="8127176">
                <a:moveTo>
                  <a:pt x="0" y="0"/>
                </a:moveTo>
                <a:lnTo>
                  <a:pt x="8127177" y="0"/>
                </a:lnTo>
                <a:lnTo>
                  <a:pt x="8127177" y="6285863"/>
                </a:lnTo>
                <a:lnTo>
                  <a:pt x="0" y="6285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92127" y="1038225"/>
            <a:ext cx="9857642" cy="307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3"/>
              </a:lnSpc>
            </a:pPr>
            <a:r>
              <a:rPr lang="en-US" b="true" sz="759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VARIÁVEIS USADAS NO SISTEMA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8465" y="4449128"/>
            <a:ext cx="16244663" cy="351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062" indent="-324531" lvl="1">
              <a:lnSpc>
                <a:spcPts val="3006"/>
              </a:lnSpc>
              <a:buFont typeface="Arial"/>
              <a:buChar char="•"/>
            </a:pPr>
            <a:r>
              <a:rPr lang="en-US" b="true" sz="3006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O QUE É UMA VARIÁVEL (ANALOGIA: CAIXINHA QUE GUARDA UM VALOR)</a:t>
            </a:r>
          </a:p>
          <a:p>
            <a:pPr algn="l">
              <a:lnSpc>
                <a:spcPts val="3006"/>
              </a:lnSpc>
            </a:pPr>
          </a:p>
          <a:p>
            <a:pPr algn="l" marL="649062" indent="-324531" lvl="1">
              <a:lnSpc>
                <a:spcPts val="3006"/>
              </a:lnSpc>
              <a:buFont typeface="Arial"/>
              <a:buChar char="•"/>
            </a:pPr>
            <a:r>
              <a:rPr lang="en-US" b="true" sz="3006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ENTRADARENDA</a:t>
            </a:r>
            <a:r>
              <a:rPr lang="en-US" b="true" sz="3006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- RENDA DIGITADA</a:t>
            </a:r>
          </a:p>
          <a:p>
            <a:pPr algn="l">
              <a:lnSpc>
                <a:spcPts val="3006"/>
              </a:lnSpc>
            </a:pPr>
          </a:p>
          <a:p>
            <a:pPr algn="l" marL="649062" indent="-324531" lvl="1">
              <a:lnSpc>
                <a:spcPts val="3006"/>
              </a:lnSpc>
              <a:buFont typeface="Arial"/>
              <a:buChar char="•"/>
            </a:pPr>
            <a:r>
              <a:rPr lang="en-US" b="true" sz="3006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CADUNICO - “SIM” OU “NÃO” </a:t>
            </a:r>
          </a:p>
          <a:p>
            <a:pPr algn="l">
              <a:lnSpc>
                <a:spcPts val="3006"/>
              </a:lnSpc>
            </a:pPr>
          </a:p>
          <a:p>
            <a:pPr algn="l" marL="649062" indent="-324531" lvl="1">
              <a:lnSpc>
                <a:spcPts val="3006"/>
              </a:lnSpc>
              <a:buFont typeface="Arial"/>
              <a:buChar char="•"/>
            </a:pPr>
            <a:r>
              <a:rPr lang="en-US" b="true" sz="3006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TOTALPESSOAS, CRIANÇAS0A6, CRIANÇAS7A18, GESTANTES</a:t>
            </a:r>
          </a:p>
          <a:p>
            <a:pPr algn="l">
              <a:lnSpc>
                <a:spcPts val="3006"/>
              </a:lnSpc>
            </a:pPr>
          </a:p>
          <a:p>
            <a:pPr algn="l" marL="649062" indent="-324531" lvl="1">
              <a:lnSpc>
                <a:spcPts val="3006"/>
              </a:lnSpc>
              <a:buFont typeface="Arial"/>
              <a:buChar char="•"/>
            </a:pPr>
            <a:r>
              <a:rPr lang="en-US" b="true" sz="3006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BENEFÍCIOS - RESULTADO CALCULADO.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43382" y="2691192"/>
            <a:ext cx="8127176" cy="6285863"/>
          </a:xfrm>
          <a:custGeom>
            <a:avLst/>
            <a:gdLst/>
            <a:ahLst/>
            <a:cxnLst/>
            <a:rect r="r" b="b" t="t" l="l"/>
            <a:pathLst>
              <a:path h="6285863" w="8127176">
                <a:moveTo>
                  <a:pt x="0" y="0"/>
                </a:moveTo>
                <a:lnTo>
                  <a:pt x="8127177" y="0"/>
                </a:lnTo>
                <a:lnTo>
                  <a:pt x="8127177" y="6285863"/>
                </a:lnTo>
                <a:lnTo>
                  <a:pt x="0" y="6285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74455" y="1435443"/>
            <a:ext cx="10128797" cy="218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b="true" sz="7802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TIPOS DE DADOS NO SISTEMA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6678" y="4812658"/>
            <a:ext cx="15552622" cy="325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5465" indent="-447732" lvl="1">
              <a:lnSpc>
                <a:spcPts val="4147"/>
              </a:lnSpc>
              <a:buFont typeface="Arial"/>
              <a:buChar char="•"/>
            </a:pPr>
            <a:r>
              <a:rPr lang="en-US" b="true" sz="4147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NUMBER: RENDA, QUANTIDADE DE PESSOAS</a:t>
            </a:r>
          </a:p>
          <a:p>
            <a:pPr algn="l">
              <a:lnSpc>
                <a:spcPts val="4147"/>
              </a:lnSpc>
            </a:pPr>
          </a:p>
          <a:p>
            <a:pPr algn="l" marL="895465" indent="-447732" lvl="1">
              <a:lnSpc>
                <a:spcPts val="4147"/>
              </a:lnSpc>
              <a:buFont typeface="Arial"/>
              <a:buChar char="•"/>
            </a:pPr>
            <a:r>
              <a:rPr lang="en-US" b="true" sz="4147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STRING: “SIM” / “NÃO” NO CADUNICO</a:t>
            </a:r>
          </a:p>
          <a:p>
            <a:pPr algn="l">
              <a:lnSpc>
                <a:spcPts val="4147"/>
              </a:lnSpc>
            </a:pPr>
          </a:p>
          <a:p>
            <a:pPr algn="l" marL="895465" indent="-447732" lvl="1">
              <a:lnSpc>
                <a:spcPts val="4147"/>
              </a:lnSpc>
              <a:buFont typeface="Arial"/>
              <a:buChar char="•"/>
            </a:pPr>
            <a:r>
              <a:rPr lang="en-US" b="true" sz="4147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BOOLEAN: VERDADEIRO / FALSO NAS VALIDAÇÕES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43382" y="2691192"/>
            <a:ext cx="8127176" cy="6285863"/>
          </a:xfrm>
          <a:custGeom>
            <a:avLst/>
            <a:gdLst/>
            <a:ahLst/>
            <a:cxnLst/>
            <a:rect r="r" b="b" t="t" l="l"/>
            <a:pathLst>
              <a:path h="6285863" w="8127176">
                <a:moveTo>
                  <a:pt x="0" y="0"/>
                </a:moveTo>
                <a:lnTo>
                  <a:pt x="8127177" y="0"/>
                </a:lnTo>
                <a:lnTo>
                  <a:pt x="8127177" y="6285863"/>
                </a:lnTo>
                <a:lnTo>
                  <a:pt x="0" y="6285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74455" y="415113"/>
            <a:ext cx="9857642" cy="307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3"/>
              </a:lnSpc>
            </a:pPr>
            <a:r>
              <a:rPr lang="en-US" b="true" sz="759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ESTRUTURAS CONDICIONAIS (IF,ELSE)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4603" y="3745541"/>
            <a:ext cx="17033397" cy="608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ESTRUTURA CONDICIONAL É USADO PARA </a:t>
            </a:r>
            <a:r>
              <a:rPr lang="en-US" sz="3999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TOMAR DECISÕES DENTRO DE UM SISTEMA.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SITAXE BÁSICA DO IF/ELSE EM JAVASCRIPT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IF SIGNIFIVA “SE” E O “ELSE” “SENÃO”.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 DO SISTEMA: A ESTRUTURA CONDICIONAL PODE SER USADA PARA VERIFICR SE A PESSOA PODE RECEBER UM BENEFÍCIO.</a:t>
            </a:r>
          </a:p>
          <a:p>
            <a:pPr algn="l">
              <a:lnSpc>
                <a:spcPts val="3999"/>
              </a:lnSpc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A RENDA FOR MENOR OU IGUAL A 218 - A PESSOA É ELEGÍVEL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SENÃO - A PESSOA É INELEGÍVEL.</a:t>
            </a:r>
          </a:p>
          <a:p>
            <a:pPr algn="l">
              <a:lnSpc>
                <a:spcPts val="39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65969" y="2691192"/>
            <a:ext cx="8156061" cy="6308204"/>
          </a:xfrm>
          <a:custGeom>
            <a:avLst/>
            <a:gdLst/>
            <a:ahLst/>
            <a:cxnLst/>
            <a:rect r="r" b="b" t="t" l="l"/>
            <a:pathLst>
              <a:path h="6308204" w="8156061">
                <a:moveTo>
                  <a:pt x="0" y="0"/>
                </a:moveTo>
                <a:lnTo>
                  <a:pt x="8156062" y="0"/>
                </a:lnTo>
                <a:lnTo>
                  <a:pt x="8156062" y="6308203"/>
                </a:lnTo>
                <a:lnTo>
                  <a:pt x="0" y="63082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46708" y="1732255"/>
            <a:ext cx="10994585" cy="139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</a:pPr>
            <a:r>
              <a:rPr lang="en-US" b="true" sz="9143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PERADOR &amp;&amp;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0155" y="4080770"/>
            <a:ext cx="16004321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operador &amp;&amp; tambem conhecido como “E” é usado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 programação para avaliar se todas as condições são verdadeiras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 &amp;&amp; true = true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 &amp;&amp; false = false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 &amp;&amp; true = false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 &amp;&amp; false = false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80412" y="2488915"/>
            <a:ext cx="8127176" cy="6285863"/>
          </a:xfrm>
          <a:custGeom>
            <a:avLst/>
            <a:gdLst/>
            <a:ahLst/>
            <a:cxnLst/>
            <a:rect r="r" b="b" t="t" l="l"/>
            <a:pathLst>
              <a:path h="6285863" w="8127176">
                <a:moveTo>
                  <a:pt x="0" y="0"/>
                </a:moveTo>
                <a:lnTo>
                  <a:pt x="8127176" y="0"/>
                </a:lnTo>
                <a:lnTo>
                  <a:pt x="8127176" y="6285863"/>
                </a:lnTo>
                <a:lnTo>
                  <a:pt x="0" y="6285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14100" y="405588"/>
            <a:ext cx="10515219" cy="133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4"/>
              </a:lnSpc>
            </a:pPr>
            <a:r>
              <a:rPr lang="en-US" b="true" sz="8744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OPERADOR ||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8744" y="2412715"/>
            <a:ext cx="15884277" cy="843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operador “||” conhecido como “ou” é usado na programação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 testar multiplas condições 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Esse operador retorna “true” se ao menos umas das condições 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forem verdadeiras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 || true = true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 || false = true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 || true = true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 || false = false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24340" y="405588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OPERADOR ! NÃO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3429979"/>
            <a:ext cx="18092612" cy="631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operador “!” Tambem conhecido como “NÃO” ele funciona como um 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 pessoa que discorda de você ele faz o true de um programa lógico se tornar 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 e quando o programa de uma programação e “false ”ele faz com que ele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torne “true “ invertendo os valores 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!true = false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!false = true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2034" y="691424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FUNÇÕES NO SISTEMA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9655" y="4349750"/>
            <a:ext cx="17565142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</a:t>
            </a: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nções são blocos de código reutilizáveis que executam uma tarefa específica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 das principais vantagens é que isso acaba organizando e diminuindo</a:t>
            </a: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tamanho do código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 nomeDaFuncao (parametros)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2034" y="1028700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MANIPULAÇÃO DO “DOM”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474" y="3877310"/>
            <a:ext cx="16417826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DOM também conhecido como “Document Object Model“ e a forma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 que o Java Script consegue acessar os elementos do HTML, assim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Java Script pode alterar, mudar e transformar os objetos no site em tempo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EX: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document.getElementById()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.value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classList.add()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2034" y="1028700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EVENTOS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8743" y="3867785"/>
            <a:ext cx="16543288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São ações que o úsuario toma na página, como clicar, escrever ou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carregamento do site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principal metódo de capturar esses eventos é usando o 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addEventListener()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2034" y="1028700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FLUXOGRAMA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6721" y="7612241"/>
            <a:ext cx="1339015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>
                <a:solidFill>
                  <a:srgbClr val="233D00"/>
                </a:solidFill>
                <a:latin typeface="Arimo"/>
                <a:ea typeface="Arimo"/>
                <a:cs typeface="Arimo"/>
                <a:sym typeface="Arimo"/>
                <a:hlinkClick r:id="rId11" tooltip="https://excalidraw.com/#json=swxzN85uRVIkYrd9rXpIL,uCoLcCtW2FnqeDsrjWKJcQ"/>
              </a:rPr>
              <a:t>https://excalidraw.com/#json=Sh6QkXOGbCLv14uzfcYji,mRU3LE7dbykjANR9XMoX2Q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1297" y="4711700"/>
            <a:ext cx="1248995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>
                <a:solidFill>
                  <a:srgbClr val="233D00"/>
                </a:solidFill>
                <a:latin typeface="Arimo"/>
                <a:ea typeface="Arimo"/>
                <a:cs typeface="Arimo"/>
                <a:sym typeface="Arimo"/>
                <a:hlinkClick r:id="rId12" tooltip="https://excalidraw.com/#json=Gs_UE2GVaOlN9afsgpKDc,5LNaOp0Wewn1r9N2c207WQ"/>
              </a:rPr>
              <a:t>https://excalidraw.com/#json=Gs_UE2GVaOlN9afsgpKDc,5LNaOp0Wewn1r9N2c207WQ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931" y="3130515"/>
            <a:ext cx="6348139" cy="147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b="true" sz="5279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FLUXOGRAMA CORRETO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2205" y="6194407"/>
            <a:ext cx="6348139" cy="147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b="true" sz="5279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FLUXOGRAMA ERRADO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5681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50989" y="3118061"/>
            <a:ext cx="4365592" cy="4365592"/>
          </a:xfrm>
          <a:custGeom>
            <a:avLst/>
            <a:gdLst/>
            <a:ahLst/>
            <a:cxnLst/>
            <a:rect r="r" b="b" t="t" l="l"/>
            <a:pathLst>
              <a:path h="4365592" w="4365592">
                <a:moveTo>
                  <a:pt x="0" y="0"/>
                </a:moveTo>
                <a:lnTo>
                  <a:pt x="4365592" y="0"/>
                </a:lnTo>
                <a:lnTo>
                  <a:pt x="4365592" y="4365591"/>
                </a:lnTo>
                <a:lnTo>
                  <a:pt x="0" y="4365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75553" y="4437166"/>
            <a:ext cx="6136893" cy="5162037"/>
          </a:xfrm>
          <a:custGeom>
            <a:avLst/>
            <a:gdLst/>
            <a:ahLst/>
            <a:cxnLst/>
            <a:rect r="r" b="b" t="t" l="l"/>
            <a:pathLst>
              <a:path h="5162037" w="6136893">
                <a:moveTo>
                  <a:pt x="0" y="0"/>
                </a:moveTo>
                <a:lnTo>
                  <a:pt x="6136894" y="0"/>
                </a:lnTo>
                <a:lnTo>
                  <a:pt x="6136894" y="5162037"/>
                </a:lnTo>
                <a:lnTo>
                  <a:pt x="0" y="51620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9095" t="0" r="-2301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22034" y="1028700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TECNOLOGIAS USADAS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2072" y="2518649"/>
            <a:ext cx="5459925" cy="6041174"/>
          </a:xfrm>
          <a:custGeom>
            <a:avLst/>
            <a:gdLst/>
            <a:ahLst/>
            <a:cxnLst/>
            <a:rect r="r" b="b" t="t" l="l"/>
            <a:pathLst>
              <a:path h="6041174" w="5459925">
                <a:moveTo>
                  <a:pt x="0" y="0"/>
                </a:moveTo>
                <a:lnTo>
                  <a:pt x="5459925" y="0"/>
                </a:lnTo>
                <a:lnTo>
                  <a:pt x="5459925" y="6041174"/>
                </a:lnTo>
                <a:lnTo>
                  <a:pt x="0" y="604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22034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HTML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48631" y="3751711"/>
            <a:ext cx="11539369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 um site, o HTML é o esqueleto dele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nosso projeto, o HTML tem o papel muito importante de mostrar tudo o que estiver na tela que você vê e guarda até o que não vê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 A ESTRUTURA DO SITE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1274010">
            <a:off x="11470996" y="560981"/>
            <a:ext cx="2342549" cy="2342549"/>
          </a:xfrm>
          <a:custGeom>
            <a:avLst/>
            <a:gdLst/>
            <a:ahLst/>
            <a:cxnLst/>
            <a:rect r="r" b="b" t="t" l="l"/>
            <a:pathLst>
              <a:path h="2342549" w="2342549">
                <a:moveTo>
                  <a:pt x="0" y="0"/>
                </a:moveTo>
                <a:lnTo>
                  <a:pt x="2342549" y="0"/>
                </a:lnTo>
                <a:lnTo>
                  <a:pt x="2342549" y="2342549"/>
                </a:lnTo>
                <a:lnTo>
                  <a:pt x="0" y="2342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2034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CSS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829871">
            <a:off x="10584904" y="284418"/>
            <a:ext cx="2321099" cy="2321099"/>
          </a:xfrm>
          <a:custGeom>
            <a:avLst/>
            <a:gdLst/>
            <a:ahLst/>
            <a:cxnLst/>
            <a:rect r="r" b="b" t="t" l="l"/>
            <a:pathLst>
              <a:path h="2321099" w="2321099">
                <a:moveTo>
                  <a:pt x="0" y="0"/>
                </a:moveTo>
                <a:lnTo>
                  <a:pt x="2321099" y="0"/>
                </a:lnTo>
                <a:lnTo>
                  <a:pt x="2321099" y="2321100"/>
                </a:lnTo>
                <a:lnTo>
                  <a:pt x="0" y="2321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882849"/>
            <a:ext cx="4698003" cy="8521303"/>
          </a:xfrm>
          <a:custGeom>
            <a:avLst/>
            <a:gdLst/>
            <a:ahLst/>
            <a:cxnLst/>
            <a:rect r="r" b="b" t="t" l="l"/>
            <a:pathLst>
              <a:path h="8521303" w="4698003">
                <a:moveTo>
                  <a:pt x="0" y="0"/>
                </a:moveTo>
                <a:lnTo>
                  <a:pt x="4698003" y="0"/>
                </a:lnTo>
                <a:lnTo>
                  <a:pt x="4698003" y="8521302"/>
                </a:lnTo>
                <a:lnTo>
                  <a:pt x="0" y="8521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48631" y="3751711"/>
            <a:ext cx="11539369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CSS de um site é a pele dele, ou seja,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estilo daquele site vem do CSS, é ele que da a cor e os efeitos que acontecem no site, sem ele o site é feio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 O ESTILO DO SITE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98983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JAVA SCRIPT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675214">
            <a:off x="13830818" y="717312"/>
            <a:ext cx="2413233" cy="2029886"/>
          </a:xfrm>
          <a:custGeom>
            <a:avLst/>
            <a:gdLst/>
            <a:ahLst/>
            <a:cxnLst/>
            <a:rect r="r" b="b" t="t" l="l"/>
            <a:pathLst>
              <a:path h="2029886" w="2413233">
                <a:moveTo>
                  <a:pt x="0" y="0"/>
                </a:moveTo>
                <a:lnTo>
                  <a:pt x="2413233" y="0"/>
                </a:lnTo>
                <a:lnTo>
                  <a:pt x="2413233" y="2029886"/>
                </a:lnTo>
                <a:lnTo>
                  <a:pt x="0" y="2029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9095" t="0" r="-23016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017" y="1588612"/>
            <a:ext cx="5342560" cy="7813332"/>
          </a:xfrm>
          <a:custGeom>
            <a:avLst/>
            <a:gdLst/>
            <a:ahLst/>
            <a:cxnLst/>
            <a:rect r="r" b="b" t="t" l="l"/>
            <a:pathLst>
              <a:path h="7813332" w="5342560">
                <a:moveTo>
                  <a:pt x="0" y="0"/>
                </a:moveTo>
                <a:lnTo>
                  <a:pt x="5342560" y="0"/>
                </a:lnTo>
                <a:lnTo>
                  <a:pt x="5342560" y="7813332"/>
                </a:lnTo>
                <a:lnTo>
                  <a:pt x="0" y="78133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76013" y="4060178"/>
            <a:ext cx="12711987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Java Script é o cerebro da página web, ou seja, sem o Java Script a pagina não tem interação com os botões, não faz calculos e não te responde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 A LOGICA DO SITE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9655" y="2236598"/>
            <a:ext cx="6681879" cy="6605275"/>
          </a:xfrm>
          <a:custGeom>
            <a:avLst/>
            <a:gdLst/>
            <a:ahLst/>
            <a:cxnLst/>
            <a:rect r="r" b="b" t="t" l="l"/>
            <a:pathLst>
              <a:path h="6605275" w="6681879">
                <a:moveTo>
                  <a:pt x="0" y="0"/>
                </a:moveTo>
                <a:lnTo>
                  <a:pt x="6681879" y="0"/>
                </a:lnTo>
                <a:lnTo>
                  <a:pt x="6681879" y="6605276"/>
                </a:lnTo>
                <a:lnTo>
                  <a:pt x="0" y="66052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604" t="0" r="-6381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2006922" y="3925501"/>
            <a:ext cx="6473733" cy="1199268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3922034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ETAPA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80655" y="2849796"/>
            <a:ext cx="8985155" cy="107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Renda per capita: É o campo que pede para o usuario inserir a renda per capita dele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6483190" y="6926177"/>
            <a:ext cx="3808693" cy="106602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10291884" y="6375995"/>
            <a:ext cx="7636462" cy="162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Selecionar CadSim e CadNão: É o campo que pede para selecionar se você tem o cadUnico ou não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7774" y="308145"/>
            <a:ext cx="5430389" cy="9670061"/>
          </a:xfrm>
          <a:custGeom>
            <a:avLst/>
            <a:gdLst/>
            <a:ahLst/>
            <a:cxnLst/>
            <a:rect r="r" b="b" t="t" l="l"/>
            <a:pathLst>
              <a:path h="9670061" w="5430389">
                <a:moveTo>
                  <a:pt x="0" y="0"/>
                </a:moveTo>
                <a:lnTo>
                  <a:pt x="5430389" y="0"/>
                </a:lnTo>
                <a:lnTo>
                  <a:pt x="5430389" y="9670061"/>
                </a:lnTo>
                <a:lnTo>
                  <a:pt x="0" y="96700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4363762" y="2493865"/>
            <a:ext cx="3648888" cy="197327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3922034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ETAPA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68084" y="2436715"/>
            <a:ext cx="5338142" cy="52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 pessoas na familia</a:t>
            </a:r>
          </a:p>
        </p:txBody>
      </p:sp>
      <p:sp>
        <p:nvSpPr>
          <p:cNvPr name="AutoShape 15" id="15"/>
          <p:cNvSpPr/>
          <p:nvPr/>
        </p:nvSpPr>
        <p:spPr>
          <a:xfrm>
            <a:off x="5490997" y="4165337"/>
            <a:ext cx="3648888" cy="197327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9208861" y="4070653"/>
            <a:ext cx="8050439" cy="52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 crianças de 0 a 6 anos na familia</a:t>
            </a:r>
          </a:p>
        </p:txBody>
      </p:sp>
      <p:sp>
        <p:nvSpPr>
          <p:cNvPr name="AutoShape 17" id="17"/>
          <p:cNvSpPr/>
          <p:nvPr/>
        </p:nvSpPr>
        <p:spPr>
          <a:xfrm>
            <a:off x="5495112" y="5457051"/>
            <a:ext cx="3648888" cy="197327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9393200" y="5399901"/>
            <a:ext cx="8276299" cy="52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 crianças de 7 a 18 anos na familia</a:t>
            </a:r>
          </a:p>
        </p:txBody>
      </p:sp>
      <p:sp>
        <p:nvSpPr>
          <p:cNvPr name="AutoShape 19" id="19"/>
          <p:cNvSpPr/>
          <p:nvPr/>
        </p:nvSpPr>
        <p:spPr>
          <a:xfrm>
            <a:off x="5499227" y="6688661"/>
            <a:ext cx="3648888" cy="197327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9720057" y="6726873"/>
            <a:ext cx="5706889" cy="52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 gestantes na familia</a:t>
            </a:r>
          </a:p>
        </p:txBody>
      </p:sp>
      <p:sp>
        <p:nvSpPr>
          <p:cNvPr name="AutoShape 21" id="21"/>
          <p:cNvSpPr/>
          <p:nvPr/>
        </p:nvSpPr>
        <p:spPr>
          <a:xfrm>
            <a:off x="5740197" y="8635912"/>
            <a:ext cx="3648888" cy="197327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10145777" y="8578762"/>
            <a:ext cx="4835432" cy="52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Pré-vizualização do total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17055" y="2885086"/>
            <a:ext cx="4592754" cy="7401914"/>
          </a:xfrm>
          <a:custGeom>
            <a:avLst/>
            <a:gdLst/>
            <a:ahLst/>
            <a:cxnLst/>
            <a:rect r="r" b="b" t="t" l="l"/>
            <a:pathLst>
              <a:path h="7401914" w="4592754">
                <a:moveTo>
                  <a:pt x="0" y="0"/>
                </a:moveTo>
                <a:lnTo>
                  <a:pt x="4592754" y="0"/>
                </a:lnTo>
                <a:lnTo>
                  <a:pt x="4592754" y="7401914"/>
                </a:lnTo>
                <a:lnTo>
                  <a:pt x="0" y="74019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18196" y="3113318"/>
            <a:ext cx="5312404" cy="5722855"/>
          </a:xfrm>
          <a:custGeom>
            <a:avLst/>
            <a:gdLst/>
            <a:ahLst/>
            <a:cxnLst/>
            <a:rect r="r" b="b" t="t" l="l"/>
            <a:pathLst>
              <a:path h="5722855" w="5312404">
                <a:moveTo>
                  <a:pt x="0" y="0"/>
                </a:moveTo>
                <a:lnTo>
                  <a:pt x="5312404" y="0"/>
                </a:lnTo>
                <a:lnTo>
                  <a:pt x="5312404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22034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ETAPA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9304" y="1766257"/>
            <a:ext cx="6490301" cy="97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sz="5646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 Elegivel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44219" y="1720665"/>
            <a:ext cx="7221036" cy="97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sz="5646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 Inelegivel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93371" y="2055073"/>
            <a:ext cx="11301259" cy="2712302"/>
          </a:xfrm>
          <a:custGeom>
            <a:avLst/>
            <a:gdLst/>
            <a:ahLst/>
            <a:cxnLst/>
            <a:rect r="r" b="b" t="t" l="l"/>
            <a:pathLst>
              <a:path h="2712302" w="11301259">
                <a:moveTo>
                  <a:pt x="0" y="0"/>
                </a:moveTo>
                <a:lnTo>
                  <a:pt x="11301258" y="0"/>
                </a:lnTo>
                <a:lnTo>
                  <a:pt x="11301258" y="2712302"/>
                </a:lnTo>
                <a:lnTo>
                  <a:pt x="0" y="2712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22034" y="408631"/>
            <a:ext cx="10443931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NAVEGAÇÃO</a:t>
            </a:r>
          </a:p>
        </p:txBody>
      </p:sp>
      <p:sp>
        <p:nvSpPr>
          <p:cNvPr name="AutoShape 13" id="13"/>
          <p:cNvSpPr/>
          <p:nvPr/>
        </p:nvSpPr>
        <p:spPr>
          <a:xfrm flipH="true">
            <a:off x="3991387" y="4447079"/>
            <a:ext cx="729438" cy="1210999"/>
          </a:xfrm>
          <a:prstGeom prst="line">
            <a:avLst/>
          </a:prstGeom>
          <a:ln cap="flat" w="1619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3074159" y="5581878"/>
            <a:ext cx="1834456" cy="67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Etapa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4914" y="5672800"/>
            <a:ext cx="1834456" cy="67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Etapa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13063" y="5623652"/>
            <a:ext cx="1834456" cy="67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Etapa 3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412142" y="4538000"/>
            <a:ext cx="0" cy="1210999"/>
          </a:xfrm>
          <a:prstGeom prst="line">
            <a:avLst/>
          </a:prstGeom>
          <a:ln cap="flat" w="1619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>
            <a:off x="13805222" y="4488853"/>
            <a:ext cx="925069" cy="1210999"/>
          </a:xfrm>
          <a:prstGeom prst="line">
            <a:avLst/>
          </a:prstGeom>
          <a:ln cap="flat" w="1619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2555276" y="7632835"/>
            <a:ext cx="13713733" cy="137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sistema avança para a propría etapa dinamicamente</a:t>
            </a:r>
          </a:p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 trocar de página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46620" y="3226644"/>
            <a:ext cx="10419345" cy="3833712"/>
          </a:xfrm>
          <a:custGeom>
            <a:avLst/>
            <a:gdLst/>
            <a:ahLst/>
            <a:cxnLst/>
            <a:rect r="r" b="b" t="t" l="l"/>
            <a:pathLst>
              <a:path h="3833712" w="10419345">
                <a:moveTo>
                  <a:pt x="0" y="0"/>
                </a:moveTo>
                <a:lnTo>
                  <a:pt x="10419346" y="0"/>
                </a:lnTo>
                <a:lnTo>
                  <a:pt x="10419346" y="3833712"/>
                </a:lnTo>
                <a:lnTo>
                  <a:pt x="0" y="38337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22034" y="408631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PRÉ-VIZUALIZAÇÃO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8361" y="7374681"/>
            <a:ext cx="12131279" cy="206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sistema atualiza o beneficio automaticamente</a:t>
            </a:r>
          </a:p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JavaScript detecta as alterações</a:t>
            </a:r>
          </a:p>
          <a:p>
            <a:pPr algn="ctr">
              <a:lnSpc>
                <a:spcPts val="5517"/>
              </a:lnSpc>
            </a:pPr>
            <a:r>
              <a:rPr lang="en-US" sz="3940" b="true">
                <a:solidFill>
                  <a:srgbClr val="233D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muda tudo em tempo real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3887" y="3118061"/>
            <a:ext cx="8572339" cy="6630168"/>
          </a:xfrm>
          <a:custGeom>
            <a:avLst/>
            <a:gdLst/>
            <a:ahLst/>
            <a:cxnLst/>
            <a:rect r="r" b="b" t="t" l="l"/>
            <a:pathLst>
              <a:path h="6630168" w="8572339">
                <a:moveTo>
                  <a:pt x="0" y="0"/>
                </a:moveTo>
                <a:lnTo>
                  <a:pt x="8572339" y="0"/>
                </a:lnTo>
                <a:lnTo>
                  <a:pt x="8572339" y="6630168"/>
                </a:lnTo>
                <a:lnTo>
                  <a:pt x="0" y="6630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22034" y="408631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DEMONSTRAÇÃO DO SISTEMA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335591" y="2691192"/>
            <a:ext cx="4592754" cy="7401914"/>
          </a:xfrm>
          <a:custGeom>
            <a:avLst/>
            <a:gdLst/>
            <a:ahLst/>
            <a:cxnLst/>
            <a:rect r="r" b="b" t="t" l="l"/>
            <a:pathLst>
              <a:path h="7401914" w="4592754">
                <a:moveTo>
                  <a:pt x="0" y="0"/>
                </a:moveTo>
                <a:lnTo>
                  <a:pt x="4592754" y="0"/>
                </a:lnTo>
                <a:lnTo>
                  <a:pt x="4592754" y="7401914"/>
                </a:lnTo>
                <a:lnTo>
                  <a:pt x="0" y="74019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54029" y="3118061"/>
            <a:ext cx="3582448" cy="6379375"/>
          </a:xfrm>
          <a:custGeom>
            <a:avLst/>
            <a:gdLst/>
            <a:ahLst/>
            <a:cxnLst/>
            <a:rect r="r" b="b" t="t" l="l"/>
            <a:pathLst>
              <a:path h="6379375" w="3582448">
                <a:moveTo>
                  <a:pt x="0" y="0"/>
                </a:moveTo>
                <a:lnTo>
                  <a:pt x="3582448" y="0"/>
                </a:lnTo>
                <a:lnTo>
                  <a:pt x="3582448" y="6379375"/>
                </a:lnTo>
                <a:lnTo>
                  <a:pt x="0" y="6379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9321" y="3622247"/>
            <a:ext cx="5433292" cy="5371003"/>
          </a:xfrm>
          <a:custGeom>
            <a:avLst/>
            <a:gdLst/>
            <a:ahLst/>
            <a:cxnLst/>
            <a:rect r="r" b="b" t="t" l="l"/>
            <a:pathLst>
              <a:path h="5371003" w="5433292">
                <a:moveTo>
                  <a:pt x="0" y="0"/>
                </a:moveTo>
                <a:lnTo>
                  <a:pt x="5433292" y="0"/>
                </a:lnTo>
                <a:lnTo>
                  <a:pt x="5433292" y="5371003"/>
                </a:lnTo>
                <a:lnTo>
                  <a:pt x="0" y="53710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604" t="0" r="-6381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22034" y="408631"/>
            <a:ext cx="10443931" cy="242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 QUE APRENDEMOS?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29888" y="3140098"/>
            <a:ext cx="7222306" cy="541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VARIÁVEIS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CONDICIONAIS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FUNÇÕES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DOM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EVENTOS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VALIDAÇÃO DE DADOS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ctr" marL="647700" indent="-323850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MANIPULAÇÃO DE INTERFACE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3785" y="8306614"/>
            <a:ext cx="5170355" cy="2585177"/>
          </a:xfrm>
          <a:custGeom>
            <a:avLst/>
            <a:gdLst/>
            <a:ahLst/>
            <a:cxnLst/>
            <a:rect r="r" b="b" t="t" l="l"/>
            <a:pathLst>
              <a:path h="2585177" w="5170355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838669" y="-633792"/>
            <a:ext cx="6649967" cy="3324983"/>
          </a:xfrm>
          <a:custGeom>
            <a:avLst/>
            <a:gdLst/>
            <a:ahLst/>
            <a:cxnLst/>
            <a:rect r="r" b="b" t="t" l="l"/>
            <a:pathLst>
              <a:path h="3324983" w="6649967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3545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55" y="-2382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35807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81056" y="8559823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7033021" y="-633792"/>
            <a:ext cx="4161212" cy="2078760"/>
          </a:xfrm>
          <a:custGeom>
            <a:avLst/>
            <a:gdLst/>
            <a:ahLst/>
            <a:cxnLst/>
            <a:rect r="r" b="b" t="t" l="l"/>
            <a:pathLst>
              <a:path h="2078760" w="4161212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9655" y="4005845"/>
            <a:ext cx="17229024" cy="1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5"/>
              </a:lnSpc>
            </a:pPr>
            <a:r>
              <a:rPr lang="en-US" b="true" sz="8685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OBRIGADO PELA ATENÇÃO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1104" y="5736621"/>
            <a:ext cx="1372984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>
                <a:solidFill>
                  <a:srgbClr val="233D00"/>
                </a:solidFill>
                <a:latin typeface="Luciole Bold"/>
                <a:ea typeface="Luciole Bold"/>
                <a:cs typeface="Luciole Bold"/>
                <a:sym typeface="Luciole Bold"/>
              </a:rPr>
              <a:t>SISTEMA DE VERIFICAÇÃO DE ELEGIBILIDADE — BOLSA FAMÍLIA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DAHJ2zFBeOw</dc:identifier>
  <dcterms:modified xsi:type="dcterms:W3CDTF">2011-08-01T06:04:30Z</dcterms:modified>
  <cp:revision>1</cp:revision>
  <dc:title>Green Simple Project Presentation</dc:title>
</cp:coreProperties>
</file>